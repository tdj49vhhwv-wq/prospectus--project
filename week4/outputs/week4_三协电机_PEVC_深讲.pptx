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三协电机（920100）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E86C1"/>
                </a:solidFill>
              </a:defRPr>
            </a:pPr>
            <a:r>
              <a:t>PE/VC 深讲：定位 + 抽取 两步独立方法论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291840"/>
            <a:ext cx="27432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赵秉清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BBCCDD"/>
                </a:solidFill>
              </a:defRPr>
            </a:pPr>
            <a:r>
              <a:t>Week 4 Presentation  |  2026-07-10</a:t>
            </a:r>
          </a:p>
          <a:p>
            <a:pPr algn="ctr">
              <a:spcAft>
                <a:spcPts val="800"/>
              </a:spcAft>
              <a:defRPr sz="1200" b="0">
                <a:solidFill>
                  <a:srgbClr val="BBCCDD"/>
                </a:solidFill>
              </a:defRPr>
            </a:pPr>
            <a:r>
              <a:t>核心主题：定向发行只披露合计，是否拆分需要判断</a:t>
            </a:r>
          </a:p>
          <a:p>
            <a:pPr algn="ctr">
              <a:spcAft>
                <a:spcPts val="800"/>
              </a:spcAft>
              <a:defRPr sz="1200" b="0">
                <a:solidFill>
                  <a:srgbClr val="BBCCDD"/>
                </a:solidFill>
              </a:defRPr>
            </a:pPr>
            <a:r>
              <a:t>直接披露与反推值的区别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进展总结：Week3 → Week4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</a:defRPr>
            </a:pPr>
            <a:r>
              <a:t>从全量投喂到定位+抽取两步独立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71600"/>
          <a:ext cx="84124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Week 3（旧方法）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Week 4（新方法）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全量PDF投喂LLM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代码定位 → 精准截取10页 → 规则/JSON抽取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三协电机覆盖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5条认缴 + 1条快照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完整9章节原文 + PE基金详情（备案/GP/LP）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成本/次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~¥3（382页全量）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~¥0.02（150倍节省）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定位方式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PDF全文关键词扫描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章节标题 → 段落PE/VC关键词 → 合并重叠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输出格式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正则硬编码提取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JSON配置驱动（换公司只改配置）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新增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PE基金结构化 / 15人拆分 / 募资差异检测 / 转增解析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035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86C1"/>
                </a:solidFill>
              </a:defRPr>
            </a:pPr>
            <a:r>
              <a:t>关键转变：从"黑箱操作"到"工程化设计"（闫老师要求）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定位和抽取两步独立：先代码定位章节，再精准截取原文，最后JSON提取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成本从¥3/次降到¥0.02/次，且确定性100%（无LLM幻觉风险）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方法论核心：定位 + 抽取 两步独立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</a:defRPr>
            </a:pPr>
            <a:r>
              <a:t>代码定位章节 → 精准截取原文 → JSON配置抽取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011680" cy="11887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📄 PDF</a:t>
            </a:r>
            <a:br/>
            <a:r>
              <a:t>382页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2011680" cy="11887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🔍 定位</a:t>
            </a:r>
            <a:br/>
            <a:r>
              <a:t>代码关键词匹配</a:t>
            </a:r>
            <a:br/>
            <a:r>
              <a:t>5章节 10页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645920"/>
            <a:ext cx="2011680" cy="11887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✂️ 截取</a:t>
            </a:r>
            <a:br/>
            <a:r>
              <a:t>PE/VC原文</a:t>
            </a:r>
            <a:br/>
            <a:r>
              <a:t>~20K字符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2011680" cy="11887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📊 抽取</a:t>
            </a:r>
            <a:br/>
            <a:r>
              <a:t>JSON配置驱动</a:t>
            </a:r>
            <a:br/>
            <a:r>
              <a:t>6条结构化记录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0320" y="2103120"/>
            <a:ext cx="320040" cy="27432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029200" y="2103120"/>
            <a:ext cx="320040" cy="27432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498079" y="2103120"/>
            <a:ext cx="320040" cy="27432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E86C1"/>
                </a:solidFill>
              </a:defRPr>
            </a:pPr>
            <a:r>
              <a:t>Step 1: 定位（代码化）</a:t>
            </a:r>
          </a:p>
          <a:p>
            <a:pPr>
              <a:spcAft>
                <a:spcPts val="600"/>
              </a:spcAft>
              <a:defRPr sz="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200" b="1">
                <a:solidFill>
                  <a:srgbClr val="333333"/>
                </a:solidFill>
              </a:defRPr>
            </a:pPr>
            <a:r>
              <a:t>章节级关键词：</a:t>
            </a:r>
          </a:p>
          <a:p>
            <a:pPr lvl="1"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"发行人基本情况" / "发行融资"</a:t>
            </a:r>
          </a:p>
          <a:p>
            <a:pPr lvl="1"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"股权结构" / "股东及实际控制人"</a:t>
            </a:r>
          </a:p>
          <a:p>
            <a:pPr lvl="1"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"私募投资基金纳入监管"</a:t>
            </a:r>
          </a:p>
          <a:p>
            <a:pPr>
              <a:spcAft>
                <a:spcPts val="600"/>
              </a:spcAft>
              <a:defRPr sz="1200" b="1">
                <a:solidFill>
                  <a:srgbClr val="333333"/>
                </a:solidFill>
              </a:defRPr>
            </a:pPr>
            <a:r>
              <a:t>段落级关键词：</a:t>
            </a:r>
          </a:p>
          <a:p>
            <a:pPr lvl="1"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"定向发行" / "增资" / "备案编码"</a:t>
            </a:r>
          </a:p>
          <a:p>
            <a:pPr>
              <a:spcAft>
                <a:spcPts val="600"/>
              </a:spcAft>
              <a:defRPr sz="1200" b="1">
                <a:solidFill>
                  <a:srgbClr val="27AE60"/>
                </a:solidFill>
              </a:defRPr>
            </a:pPr>
            <a:r>
              <a:t>→ 从382页精准定位到10页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E86C1"/>
                </a:solidFill>
              </a:defRPr>
            </a:pPr>
            <a:r>
              <a:t>Step 2: 抽取（JSON配置化）</a:t>
            </a:r>
          </a:p>
          <a:p>
            <a:pPr>
              <a:spcAft>
                <a:spcPts val="600"/>
              </a:spcAft>
              <a:defRPr sz="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200" b="1">
                <a:solidFill>
                  <a:srgbClr val="333333"/>
                </a:solidFill>
              </a:defRPr>
            </a:pPr>
            <a:r>
              <a:t>不用正则，用JSON配置驱动：</a:t>
            </a:r>
          </a:p>
          <a:p>
            <a:pPr lvl="1"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find_between("已收到", "缴纳的出资款")</a:t>
            </a:r>
          </a:p>
          <a:p>
            <a:pPr lvl="1"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find_number_after("发行价格为", "元/股")</a:t>
            </a:r>
          </a:p>
          <a:p>
            <a:pPr lvl="1"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smart_split_names(名单字符串)</a:t>
            </a:r>
          </a:p>
          <a:p>
            <a:pPr>
              <a:spcAft>
                <a:spcPts val="600"/>
              </a:spcAft>
              <a:defRPr sz="1200" b="1">
                <a:solidFill>
                  <a:srgbClr val="27AE60"/>
                </a:solidFill>
              </a:defRPr>
            </a:pPr>
            <a:r>
              <a:t>→ 6条结构化记录，换公司只改JSON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三协电机（920100）股本变化时间线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</a:defRPr>
            </a:pPr>
            <a:r>
              <a:t>从有限公司设立到IPO前，两次定增 + 资本公积转增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508760"/>
            <a:ext cx="182880" cy="18288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1691640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3716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39C12"/>
                </a:solidFill>
              </a:defRPr>
            </a:pPr>
            <a:r>
              <a:t>2002.11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371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有限公司设立</a:t>
            </a:r>
            <a:br/>
            <a:r>
              <a:t>盛祎+朱绶青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3716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⚠ t0出资额</a:t>
            </a:r>
            <a:br/>
            <a:r>
              <a:t>未在招股书披露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221992"/>
            <a:ext cx="182880" cy="18288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240487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08483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2022.02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08483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新三板挂牌</a:t>
            </a:r>
            <a:br/>
            <a:r>
              <a:t>基础层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08483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证券代码873669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935224"/>
            <a:ext cx="182880" cy="1828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" y="3118104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798064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86C1"/>
                </a:solidFill>
              </a:defRPr>
            </a:pPr>
            <a:r>
              <a:t>2022.08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79806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★ 第一次定增</a:t>
            </a:r>
            <a:br/>
            <a:r>
              <a:t>稳正景明+长泽创投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79806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4.48元/股</a:t>
            </a:r>
            <a:br/>
            <a:r>
              <a:t>530万股 2374万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648456"/>
            <a:ext cx="182880" cy="18288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" y="3831335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511296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2023.05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51129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调入创新层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361688"/>
            <a:ext cx="182880" cy="1828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" y="4544568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2245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86C1"/>
                </a:solidFill>
              </a:defRPr>
            </a:pPr>
            <a:r>
              <a:t>2023.09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22452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★ 第二次定增</a:t>
            </a:r>
            <a:br/>
            <a:r>
              <a:t>盛祎等15名自然人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2245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5.41元/股</a:t>
            </a:r>
            <a:br/>
            <a:r>
              <a:t>321.5万股 1723万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5074920"/>
            <a:ext cx="182880" cy="1828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" y="5257800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4937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2023.12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937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10转增3.8股</a:t>
            </a:r>
            <a:br/>
            <a:r>
              <a:t>转增1462万股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9377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总股本→5310.93万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788152"/>
            <a:ext cx="182880" cy="1828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65099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2A4A"/>
                </a:solidFill>
              </a:defRPr>
            </a:pPr>
            <a:r>
              <a:t>2025.07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56509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IPO前</a:t>
            </a:r>
            <a:br/>
            <a:r>
              <a:t>PE持股: 稳正景明9.16%</a:t>
            </a:r>
            <a:br/>
            <a:r>
              <a:t>长泽创投4.61%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565099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招股书签署日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PDF 原文证据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</a:defRPr>
            </a:pPr>
            <a:r>
              <a:t>关键页码：p31-32 定增 / p35 股东表 / p39 私募基金备案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86C1"/>
                </a:solidFill>
              </a:defRPr>
            </a:pPr>
            <a:r>
              <a:t>证据1: 2022年定增 — PE进入 (p31-32)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</a:defRPr>
            </a:pPr>
            <a:r>
              <a:t>"本次股票发行价格为4.48元/股，共发行普通股530.00万股，募集资金总额为2,374.40万元。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</a:defRPr>
            </a:pPr>
            <a:r>
              <a:t>经审验，截至2022年8月9日，公司已收到稳正景明、长泽创投缴纳的出资款2,374.40万元。"</a:t>
            </a:r>
          </a:p>
          <a:p>
            <a:pPr>
              <a:spcAft>
                <a:spcPts val="600"/>
              </a:spcAft>
              <a:defRPr sz="1000" b="1">
                <a:solidFill>
                  <a:srgbClr val="E74C3C"/>
                </a:solidFill>
              </a:defRPr>
            </a:pPr>
            <a:r>
              <a:t>⚠ 关键问题：2374.40万是两家合计，PDF未单独披露各自出资金额</a:t>
            </a:r>
          </a:p>
          <a:p>
            <a:pPr>
              <a:spcAft>
                <a:spcPts val="600"/>
              </a:spcAft>
              <a:defRPr sz="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2E86C1"/>
                </a:solidFill>
              </a:defRPr>
            </a:pPr>
            <a:r>
              <a:t>证据2: 2023年定增 — 拟募集≠实际收到 (p32)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</a:defRPr>
            </a:pPr>
            <a:r>
              <a:t>"本次股票拟发行价格为5.41元/股，拟发行普通股321.50万股，拟募集资金总额为1,739.32万元。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</a:defRPr>
            </a:pPr>
            <a:r>
              <a:t>已收到盛祎、盛松...等15名认购人缴纳的出资款1,723.09万元。"</a:t>
            </a:r>
          </a:p>
          <a:p>
            <a:pPr>
              <a:spcAft>
                <a:spcPts val="600"/>
              </a:spcAft>
              <a:defRPr sz="1000" b="1">
                <a:solidFill>
                  <a:srgbClr val="E74C3C"/>
                </a:solidFill>
              </a:defRPr>
            </a:pPr>
            <a:r>
              <a:t>⚠ price×shares=1739万 ≠ 实际1723万（差16.23万/0.93%）→ 待复核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86C1"/>
                </a:solidFill>
              </a:defRPr>
            </a:pPr>
            <a:r>
              <a:t>证据3: 私募基金备案 (p39)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</a:defRPr>
            </a:pPr>
            <a:r>
              <a:t>"稳正景明于2020年11月16日在中国证券投资基金业协会备案，备案编码为SNG030；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</a:defRPr>
            </a:pPr>
            <a:r>
              <a:t>长泽创投于2022年6月27日备案，备案编码为SVU935。</a:t>
            </a:r>
          </a:p>
          <a:p>
            <a:pPr>
              <a:spcAft>
                <a:spcPts val="600"/>
              </a:spcAft>
              <a:defRPr sz="1000">
                <a:solidFill>
                  <a:srgbClr val="333333"/>
                </a:solidFill>
              </a:defRPr>
            </a:pPr>
            <a:r>
              <a:t>基金管理人为深圳市稳正资产管理有限公司，备案登记编号P1003586。"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Gold 表示例：结构化提取结果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</a:defRPr>
            </a:pPr>
            <a:r>
              <a:t>JSONL格式 — 直接披露 vs 反推值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E86C1"/>
                </a:solidFill>
              </a:defRPr>
            </a:pPr>
            <a:r>
              <a:t>SubscriptionFlow（认缴流量）— 2022年定增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8046720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7680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A0D040"/>
                </a:solidFill>
                <a:latin typeface="Courier New"/>
              </a:defRPr>
            </a:pPr>
            <a:r>
              <a:t>{</a:t>
            </a:r>
            <a:br/>
            <a:r>
              <a:t>  "record_type": "subscription_flow",</a:t>
            </a:r>
            <a:br/>
            <a:r>
              <a:t>  "subscriber_name": "深圳市稳正景明创业投资企业(有限合伙)",</a:t>
            </a:r>
            <a:br/>
            <a:r>
              <a:t>  "subscription_date": "2022-08-09",</a:t>
            </a:r>
            <a:br/>
            <a:r>
              <a:t>  "price_per_share": 4.48,</a:t>
            </a:r>
            <a:br/>
            <a:r>
              <a:t>  "shares_subscribed": null,           ← ⚠ 未披露</a:t>
            </a:r>
            <a:br/>
            <a:r>
              <a:t>  "amount_subscribed": null,            ← ⚠ 仅合计</a:t>
            </a:r>
            <a:br/>
            <a:r>
              <a:t>  "event_context": "增资",</a:t>
            </a:r>
            <a:br/>
            <a:r>
              <a:t>  "notes": "PDF只披露稳正景明+长泽创投合计2374.40万元，</a:t>
            </a:r>
            <a:br/>
            <a:r>
              <a:t>            未单独披露各自金额，不能反推"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86C1"/>
                </a:solidFill>
              </a:defRPr>
            </a:pPr>
            <a:r>
              <a:t>直接披露 vs 反推 → 核心原则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114800"/>
          <a:ext cx="804672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字段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原则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稳正景明持股 486.70万股 / 9.16%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p37 前十名股东表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✅ 直接披露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照抄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2022年发行价 4.48元/股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✅ 直接披露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照抄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稳正景明单独出资金额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❌ 未披露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留空 null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长泽创投单独出资金额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❌ 未披露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留空 null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设立时盛祎/朱绶青出资额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❌ 未披露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需查公开转让说明书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与其他公司的共性：从个案提炼方法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</a:defRPr>
            </a:pPr>
            <a:r>
              <a:t>三协电机反映了 IPO 招股书抽取中的共性问题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71600"/>
          <a:ext cx="841248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共性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三协电机的表现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其他公司表现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PE/VC 通过定向发行进入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2022年稳正景明+长泽创投定增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友升A/B轮增资、云汉芯城多轮增资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私募基金备案信息在招股书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p38-39 备案编码SNG030/SVU935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科创板/创业板标配章节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发行前股东结构表（核心来源）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p35-36 完整19名股东 + IPO前后对比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所有招股书第四节必有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历史沿革不在招股书正文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需查《公开转让说明书》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影石创新VIE细节在问询回复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单位一致性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全招股书统一用"万元/万股"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黄山谷捷有78/780十进位混淆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股权代持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2021年3月解除（p39）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星图测控也有代持还原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定向发行只给合计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2374万=稳正景明+长泽创投(未拆分)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云汉芯城英文投资人也有类似问题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E86C1"/>
                </a:solidFill>
              </a:defRPr>
            </a:pPr>
            <a:r>
              <a:t>可迁移方法：换一家类似公司，应该先去招股书哪里找信息？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北交所公司：第四节"发行人基本情况" → "报告期内发行融资" + "股东及实际控制人" + "股本情况"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科创板/创业板：第五节"发行人基本情况" → "股本演变" + "历次增资" + "新增股东"</a:t>
            </a:r>
          </a:p>
          <a:p>
            <a:pPr>
              <a:spcAft>
                <a:spcPts val="600"/>
              </a:spcAft>
              <a:defRPr sz="1200" b="1">
                <a:solidFill>
                  <a:srgbClr val="E74C3C"/>
                </a:solidFill>
              </a:defRPr>
            </a:pPr>
            <a:r>
              <a:t>共性原则：数字能直接抄就抄，PDF没写的留空不反推，差异标"待复核"不硬凑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自动化流程与失败点分析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</a:defRPr>
            </a:pPr>
            <a:r>
              <a:t>规则能做什么 / LLM该做什么 / 人工必须做什么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B2A4A"/>
                </a:solidFill>
              </a:defRPr>
            </a:pPr>
            <a:r>
              <a:t>当前流程：PDF(382页) → 代码定位 → 10页原文 → JSON配置抽取 → JSONL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80467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环节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成功?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PDF→文本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PyMuPDF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文本层完整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章节定位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keyword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"发行融资"等标题明确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PE投资人识别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string find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稳正景明/长泽创投 → 含"创业投资"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认购金额提取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find_between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合计无法拆分 → 留空，不能反推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15人名单拆分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smart_split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分隔符+和 → 15/15 验证通过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PE基金备案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fixed_value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SNG030/SVU935/P1003586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表格提取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⚠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PyMuPDF tables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合并单元格 → 列映射偏差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设立事件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招股书本身不披露 → 外部数据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206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E86C1"/>
                </a:solidFill>
              </a:defRPr>
            </a:pPr>
            <a:r>
              <a:t>规则 → 定位章节 / 识别名称 / 数字提取     LLM → 语义消歧 / 差异判断     人工 → PDF验证 / 不反推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E74C3C"/>
                </a:solidFill>
              </a:defRPr>
            </a:pPr>
            <a:r>
              <a:t>核心教训：PDF没写的就留空，标'待复核'，不硬凑。这就是工程化的底线。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下一步计划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任务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补充公开转让说明书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获取设立时出资结构（t0）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15人→15条SF记录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每人一行subscription_flow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PE单独认购金额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标注"PDF未单独披露"，不反推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跨页表格精确解析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改进PyMuPDF合并单元格映射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Cross-check增强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总股本×持股比例≈持股数校验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8家公司比对验证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北交所 vs 科创板招股书结构差异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0292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一句话总结：</a:t>
            </a:r>
          </a:p>
          <a:p>
            <a:pPr algn="ctr">
              <a:defRPr sz="1300">
                <a:solidFill>
                  <a:srgbClr val="F39C12"/>
                </a:solidFill>
              </a:defRPr>
            </a:pPr>
            <a:r>
              <a:t>招股书定向发行常只披露认购合计，不要为了填满表格去反推。</a:t>
            </a:r>
            <a:br/>
            <a:r>
              <a:t>PDF没写的就留空，标"待复核"，这才是可回源、可信赖的工程化方法。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